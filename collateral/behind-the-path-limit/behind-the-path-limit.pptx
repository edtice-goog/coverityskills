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notesMasterIdLst>
    <p:notesMasterId r:id="rId2"/>
  </p:notesMaster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olt.png"/><Relationship Id="rId3" Type="http://schemas.openxmlformats.org/officeDocument/2006/relationships/image" Target="../media/code-dark.png"/><Relationship Id="rId4" Type="http://schemas.openxmlformats.org/officeDocument/2006/relationships/image" Target="../media/discover.png"/><Relationship Id="rId5" Type="http://schemas.openxmlformats.org/officeDocument/2006/relationships/image" Target="../media/eye.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p:nvPr/>
        </p:nvSpPr>
        <p:spPr>
          <a:xfrm>
            <a:off x="457200" y="1417320"/>
            <a:ext cx="8412480" cy="1051560"/>
          </a:xfrm>
          <a:prstGeom prst="rect">
            <a:avLst/>
          </a:prstGeom>
          <a:noFill/>
          <a:ln/>
        </p:spPr>
        <p:txBody>
          <a:bodyPr wrap="square" lIns="0" tIns="0" rIns="0" bIns="0" rtlCol="0" anchor="t"/>
          <a:lstStyle/>
          <a:p>
            <a:pPr indent="0" marL="0">
              <a:buNone/>
            </a:pPr>
            <a:r>
              <a:rPr lang="en-US" sz="4000" dirty="0">
                <a:solidFill>
                  <a:srgbClr val="1A1A1A"/>
                </a:solidFill>
                <a:latin typeface="Georgia" pitchFamily="34" charset="0"/>
                <a:ea typeface="Georgia" pitchFamily="34" charset="-122"/>
                <a:cs typeface="Georgia" pitchFamily="34" charset="-120"/>
              </a:rPr>
              <a:t>Behind the Path Limit</a:t>
            </a:r>
          </a:p>
        </p:txBody>
      </p:sp>
      <p:sp>
        <p:nvSpPr>
          <p:cNvPr id="3" name="Text 3"/>
          <p:cNvSpPr/>
          <p:nvPr/>
        </p:nvSpPr>
        <p:spPr>
          <a:xfrm>
            <a:off x="457200" y="2606040"/>
            <a:ext cx="8229600" cy="457200"/>
          </a:xfrm>
          <a:prstGeom prst="rect">
            <a:avLst/>
          </a:prstGeom>
          <a:noFill/>
          <a:ln/>
        </p:spPr>
        <p:txBody>
          <a:bodyPr wrap="square" lIns="0" tIns="0" rIns="0" bIns="0" rtlCol="0" anchor="t"/>
          <a:lstStyle/>
          <a:p>
            <a:pPr indent="0" marL="0">
              <a:buNone/>
            </a:pPr>
            <a:r>
              <a:rPr lang="en-US" sz="1700" dirty="0">
                <a:solidFill>
                  <a:srgbClr val="1A1A1A"/>
                </a:solidFill>
                <a:latin typeface="Georgia" pitchFamily="34" charset="0"/>
                <a:ea typeface="Georgia" pitchFamily="34" charset="-122"/>
                <a:cs typeface="Georgia" pitchFamily="34" charset="-120"/>
              </a:rPr>
              <a:t>One tool's enrichment is the next tool's target.</a:t>
            </a:r>
          </a:p>
        </p:txBody>
      </p:sp>
      <p:sp>
        <p:nvSpPr>
          <p:cNvPr id="4" name="Text 4"/>
          <p:cNvSpPr/>
          <p:nvPr/>
        </p:nvSpPr>
        <p:spPr>
          <a:xfrm>
            <a:off x="457200" y="3520440"/>
            <a:ext cx="8229600" cy="36576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Static analysis records where it applied its per-function bound; a fuzzer goes exactly there, built from the analyzer's own intermediate directory and models. Nothing new in the lifecycle: the findings-out, enrichments-in architecture with the names filled in, and a twenty-year-old trade extended for the post-Mythos world.</a:t>
            </a:r>
          </a:p>
        </p:txBody>
      </p:sp>
      <p:sp>
        <p:nvSpPr>
          <p:cNvPr id="5" name="Shape 5"/>
          <p:cNvSpPr/>
          <p:nvPr/>
        </p:nvSpPr>
        <p:spPr>
          <a:xfrm>
            <a:off x="457200" y="4617720"/>
            <a:ext cx="1097280" cy="32004"/>
          </a:xfrm>
          <a:prstGeom prst="rect">
            <a:avLst/>
          </a:prstGeom>
          <a:solidFill>
            <a:srgbClr val="B85042"/>
          </a:solidFill>
          <a:ln>
            <a:noFill/>
          </a:ln>
        </p:spPr>
        <p:txBody>
          <a:bodyPr/>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6"/>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THE PATTERN</a:t>
            </a:r>
          </a:p>
        </p:txBody>
      </p:sp>
      <p:sp>
        <p:nvSpPr>
          <p:cNvPr id="7" name="Text 7"/>
          <p:cNvSpPr/>
          <p:nvPr/>
        </p:nvSpPr>
        <p:spPr>
          <a:xfrm>
            <a:off x="457200" y="530352"/>
            <a:ext cx="8229600" cy="780288"/>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An earlier stage records where it applied its bound. A later stage starts exactly there.</a:t>
            </a:r>
          </a:p>
        </p:txBody>
      </p:sp>
      <p:sp>
        <p:nvSpPr>
          <p:cNvPr id="8" name="Text 8"/>
          <p:cNvSpPr/>
          <p:nvPr/>
        </p:nvSpPr>
        <p:spPr>
          <a:xfrm>
            <a:off x="457200" y="1438656"/>
            <a:ext cx="8229600" cy="658368"/>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Static analysis bounds its work per function; that bound is what lets it scale to whole systems with near-sound detection rates. Where it applied the bound, it says so, in a log. Turn that line into an enrichment record and the next tool has a target list it could never have derived for itself.</a:t>
            </a:r>
          </a:p>
        </p:txBody>
      </p:sp>
      <p:sp>
        <p:nvSpPr>
          <p:cNvPr id="9" name="Shape 9"/>
          <p:cNvSpPr/>
          <p:nvPr/>
        </p:nvSpPr>
        <p:spPr>
          <a:xfrm>
            <a:off x="457200" y="2334768"/>
            <a:ext cx="2529840" cy="2046223"/>
          </a:xfrm>
          <a:prstGeom prst="roundRect">
            <a:avLst>
              <a:gd name="adj" fmla="val 3000"/>
            </a:avLst>
          </a:prstGeom>
          <a:solidFill>
            <a:srgbClr val="F2F2F2"/>
          </a:solidFill>
          <a:ln>
            <a:noFill/>
          </a:ln>
        </p:spPr>
        <p:txBody>
          <a:bodyPr/>
          <a:lstStyle/>
          <a:p/>
        </p:txBody>
      </p:sp>
      <p:sp>
        <p:nvSpPr>
          <p:cNvPr id="10" name="Text 10"/>
          <p:cNvSpPr/>
          <p:nvPr/>
        </p:nvSpPr>
        <p:spPr>
          <a:xfrm>
            <a:off x="658368" y="253593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enrichment</a:t>
            </a:r>
          </a:p>
        </p:txBody>
      </p:sp>
      <p:sp>
        <p:nvSpPr>
          <p:cNvPr id="11" name="Text 11"/>
          <p:cNvSpPr/>
          <p:nvPr/>
        </p:nvSpPr>
        <p:spPr>
          <a:xfrm>
            <a:off x="658368" y="2796032"/>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For each function on which the analyzer applied its bound: its name, its translation unit, the checker that reached the bound in it, and so the kind of defect that checker would have looked for. All of it is data the analyzer already had.</a:t>
            </a:r>
          </a:p>
        </p:txBody>
      </p:sp>
      <p:sp>
        <p:nvSpPr>
          <p:cNvPr id="12" name="Shape 12"/>
          <p:cNvSpPr/>
          <p:nvPr/>
        </p:nvSpPr>
        <p:spPr>
          <a:xfrm>
            <a:off x="3307080" y="2334768"/>
            <a:ext cx="2529840" cy="2046223"/>
          </a:xfrm>
          <a:prstGeom prst="roundRect">
            <a:avLst>
              <a:gd name="adj" fmla="val 3000"/>
            </a:avLst>
          </a:prstGeom>
          <a:solidFill>
            <a:srgbClr val="F2F2F2"/>
          </a:solidFill>
          <a:ln>
            <a:noFill/>
          </a:ln>
        </p:spPr>
        <p:txBody>
          <a:bodyPr/>
          <a:lstStyle/>
          <a:p/>
        </p:txBody>
      </p:sp>
      <p:sp>
        <p:nvSpPr>
          <p:cNvPr id="13" name="Text 13"/>
          <p:cNvSpPr/>
          <p:nvPr/>
        </p:nvSpPr>
        <p:spPr>
          <a:xfrm>
            <a:off x="3508248" y="253593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consumer</a:t>
            </a:r>
          </a:p>
        </p:txBody>
      </p:sp>
      <p:sp>
        <p:nvSpPr>
          <p:cNvPr id="14" name="Text 14"/>
          <p:cNvSpPr/>
          <p:nvPr/>
        </p:nvSpPr>
        <p:spPr>
          <a:xfrm>
            <a:off x="3508248" y="2796032"/>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fuzzer that targets each of those functions, with the few functions on the finding's path beside it, instead of the whole program. Late-stage cost spent only where the early stage recorded a bound.</a:t>
            </a:r>
          </a:p>
        </p:txBody>
      </p:sp>
      <p:sp>
        <p:nvSpPr>
          <p:cNvPr id="15" name="Shape 15"/>
          <p:cNvSpPr/>
          <p:nvPr/>
        </p:nvSpPr>
        <p:spPr>
          <a:xfrm>
            <a:off x="6156960" y="2334768"/>
            <a:ext cx="2529840" cy="2046223"/>
          </a:xfrm>
          <a:prstGeom prst="roundRect">
            <a:avLst>
              <a:gd name="adj" fmla="val 3000"/>
            </a:avLst>
          </a:prstGeom>
          <a:solidFill>
            <a:srgbClr val="F2F2F2"/>
          </a:solidFill>
          <a:ln>
            <a:noFill/>
          </a:ln>
        </p:spPr>
        <p:txBody>
          <a:bodyPr/>
          <a:lstStyle/>
          <a:p/>
        </p:txBody>
      </p:sp>
      <p:sp>
        <p:nvSpPr>
          <p:cNvPr id="16" name="Text 16"/>
          <p:cNvSpPr/>
          <p:nvPr/>
        </p:nvSpPr>
        <p:spPr>
          <a:xfrm>
            <a:off x="6358128" y="253593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reuse</a:t>
            </a:r>
          </a:p>
        </p:txBody>
      </p:sp>
      <p:sp>
        <p:nvSpPr>
          <p:cNvPr id="17" name="Text 17"/>
          <p:cNvSpPr/>
          <p:nvPr/>
        </p:nvSpPr>
        <p:spPr>
          <a:xfrm>
            <a:off x="6358128" y="2796032"/>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fuzzer's target is cut out of the analyzer's intermediate directory, and its callee stubs are printed from the analyzer's derived models. The later tool runs on the earlier tool's infrastructure, and so its verdict is in the earlier tool's own terms.</a:t>
            </a:r>
          </a:p>
        </p:txBody>
      </p:sp>
      <p:sp>
        <p:nvSpPr>
          <p:cNvPr id="18" name="Text 18"/>
          <p:cNvSpPr/>
          <p:nvPr/>
        </p:nvSpPr>
        <p:spPr>
          <a:xfrm>
            <a:off x="457200" y="4511040"/>
            <a:ext cx="8229600" cy="170687"/>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Nothing in the lifecycle moves. Two tools that were already placed exchange one record, and the record is the point.</a:t>
            </a:r>
          </a:p>
        </p:txBody>
      </p:sp>
      <p:sp>
        <p:nvSpPr>
          <p:cNvPr id="19" name="Text 19"/>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20" name="Text 20"/>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21"/>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THE METHOD</a:t>
            </a:r>
          </a:p>
        </p:txBody>
      </p:sp>
      <p:sp>
        <p:nvSpPr>
          <p:cNvPr id="22" name="Text 22"/>
          <p:cNvSpPr/>
          <p:nvPr/>
        </p:nvSpPr>
        <p:spPr>
          <a:xfrm>
            <a:off x="457200" y="530352"/>
            <a:ext cx="8229600" cy="780288"/>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Find. Look. Slice. Fuzz. Then a verdict that carries its evidence.</a:t>
            </a:r>
          </a:p>
        </p:txBody>
      </p:sp>
      <p:sp>
        <p:nvSpPr>
          <p:cNvPr id="23" name="Shape 23"/>
          <p:cNvSpPr/>
          <p:nvPr/>
        </p:nvSpPr>
        <p:spPr>
          <a:xfrm>
            <a:off x="457200" y="1493519"/>
            <a:ext cx="1817370" cy="2461006"/>
          </a:xfrm>
          <a:prstGeom prst="rect">
            <a:avLst/>
          </a:prstGeom>
          <a:solidFill>
            <a:srgbClr val="FFFFFF"/>
          </a:solidFill>
          <a:ln w="9525">
            <a:solidFill>
              <a:srgbClr val="D1D5DB"/>
            </a:solidFill>
          </a:ln>
        </p:spPr>
        <p:txBody>
          <a:bodyPr/>
          <a:lstStyle/>
          <a:p/>
        </p:txBody>
      </p:sp>
      <p:sp>
        <p:nvSpPr>
          <p:cNvPr id="24" name="Text 24"/>
          <p:cNvSpPr/>
          <p:nvPr/>
        </p:nvSpPr>
        <p:spPr>
          <a:xfrm>
            <a:off x="713232" y="1749551"/>
            <a:ext cx="1305306" cy="214630"/>
          </a:xfrm>
          <a:prstGeom prst="rect">
            <a:avLst/>
          </a:prstGeom>
          <a:noFill/>
          <a:ln/>
        </p:spPr>
        <p:txBody>
          <a:bodyPr wrap="square" lIns="0" tIns="0" rIns="0" bIns="0" rtlCol="0" anchor="ctr"/>
          <a:lstStyle/>
          <a:p>
            <a:pPr indent="0" marL="0">
              <a:buNone/>
            </a:pPr>
            <a:r>
              <a:rPr lang="en-US" sz="1300" b="1" spc="120" kern="0" dirty="0">
                <a:solidFill>
                  <a:srgbClr val="B85042"/>
                </a:solidFill>
                <a:latin typeface="Calibri" pitchFamily="34" charset="0"/>
                <a:ea typeface="Calibri" pitchFamily="34" charset="-122"/>
                <a:cs typeface="Calibri" pitchFamily="34" charset="-120"/>
              </a:rPr>
              <a:t>Find</a:t>
            </a:r>
          </a:p>
        </p:txBody>
      </p:sp>
      <p:pic>
        <p:nvPicPr>
          <p:cNvPr id="25" name="Picture 25"/>
          <p:cNvPicPr>
            <a:picLocks noChangeAspect="1"/>
          </p:cNvPicPr>
          <p:nvPr/>
        </p:nvPicPr>
        <p:blipFill>
          <a:blip r:embed="rId4"/>
          <a:stretch>
            <a:fillRect/>
          </a:stretch>
        </p:blipFill>
        <p:spPr>
          <a:xfrm>
            <a:off x="713232" y="2256789"/>
            <a:ext cx="201168" cy="201168"/>
          </a:xfrm>
          <a:prstGeom prst="rect">
            <a:avLst/>
          </a:prstGeom>
        </p:spPr>
      </p:pic>
      <p:sp>
        <p:nvSpPr>
          <p:cNvPr id="26" name="Text 26"/>
          <p:cNvSpPr/>
          <p:nvPr/>
        </p:nvSpPr>
        <p:spPr>
          <a:xfrm>
            <a:off x="1042416" y="2238501"/>
            <a:ext cx="976121" cy="201168"/>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Enrichment out</a:t>
            </a:r>
          </a:p>
        </p:txBody>
      </p:sp>
      <p:sp>
        <p:nvSpPr>
          <p:cNvPr id="27" name="Text 27"/>
          <p:cNvSpPr/>
          <p:nvPr/>
        </p:nvSpPr>
        <p:spPr>
          <a:xfrm>
            <a:off x="1042416" y="2485389"/>
            <a:ext cx="976121" cy="10241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log names the function; a diagnostics re-run names the checker that reached the bound.</a:t>
            </a:r>
          </a:p>
        </p:txBody>
      </p:sp>
      <p:sp>
        <p:nvSpPr>
          <p:cNvPr id="28" name="Shape 28"/>
          <p:cNvSpPr/>
          <p:nvPr/>
        </p:nvSpPr>
        <p:spPr>
          <a:xfrm>
            <a:off x="2594610" y="1493519"/>
            <a:ext cx="1817370" cy="2461006"/>
          </a:xfrm>
          <a:prstGeom prst="rect">
            <a:avLst/>
          </a:prstGeom>
          <a:solidFill>
            <a:srgbClr val="F2F2F2"/>
          </a:solidFill>
          <a:ln>
            <a:noFill/>
          </a:ln>
        </p:spPr>
        <p:txBody>
          <a:bodyPr/>
          <a:lstStyle/>
          <a:p/>
        </p:txBody>
      </p:sp>
      <p:sp>
        <p:nvSpPr>
          <p:cNvPr id="29" name="Shape 29"/>
          <p:cNvSpPr/>
          <p:nvPr/>
        </p:nvSpPr>
        <p:spPr>
          <a:xfrm>
            <a:off x="2594610" y="1493519"/>
            <a:ext cx="50292" cy="2461006"/>
          </a:xfrm>
          <a:prstGeom prst="rect">
            <a:avLst/>
          </a:prstGeom>
          <a:solidFill>
            <a:srgbClr val="B85042"/>
          </a:solidFill>
          <a:ln>
            <a:noFill/>
          </a:ln>
        </p:spPr>
        <p:txBody>
          <a:bodyPr/>
          <a:lstStyle/>
          <a:p/>
        </p:txBody>
      </p:sp>
      <p:sp>
        <p:nvSpPr>
          <p:cNvPr id="30" name="Text 30"/>
          <p:cNvSpPr/>
          <p:nvPr/>
        </p:nvSpPr>
        <p:spPr>
          <a:xfrm>
            <a:off x="2850641" y="1749551"/>
            <a:ext cx="1305306" cy="214630"/>
          </a:xfrm>
          <a:prstGeom prst="rect">
            <a:avLst/>
          </a:prstGeom>
          <a:noFill/>
          <a:ln/>
        </p:spPr>
        <p:txBody>
          <a:bodyPr wrap="square" lIns="0" tIns="0" rIns="0" bIns="0" rtlCol="0" anchor="ctr"/>
          <a:lstStyle/>
          <a:p>
            <a:pPr indent="0" marL="0">
              <a:buNone/>
            </a:pPr>
            <a:r>
              <a:rPr lang="en-US" sz="1300" b="1" spc="120" kern="0" dirty="0">
                <a:solidFill>
                  <a:srgbClr val="B85042"/>
                </a:solidFill>
                <a:latin typeface="Calibri" pitchFamily="34" charset="0"/>
                <a:ea typeface="Calibri" pitchFamily="34" charset="-122"/>
                <a:cs typeface="Calibri" pitchFamily="34" charset="-120"/>
              </a:rPr>
              <a:t>Look</a:t>
            </a:r>
          </a:p>
        </p:txBody>
      </p:sp>
      <p:pic>
        <p:nvPicPr>
          <p:cNvPr id="31" name="Picture 31"/>
          <p:cNvPicPr>
            <a:picLocks noChangeAspect="1"/>
          </p:cNvPicPr>
          <p:nvPr/>
        </p:nvPicPr>
        <p:blipFill>
          <a:blip r:embed="rId5"/>
          <a:stretch>
            <a:fillRect/>
          </a:stretch>
        </p:blipFill>
        <p:spPr>
          <a:xfrm>
            <a:off x="2850641" y="2256789"/>
            <a:ext cx="201168" cy="201168"/>
          </a:xfrm>
          <a:prstGeom prst="rect">
            <a:avLst/>
          </a:prstGeom>
        </p:spPr>
      </p:pic>
      <p:sp>
        <p:nvSpPr>
          <p:cNvPr id="32" name="Text 32"/>
          <p:cNvSpPr/>
          <p:nvPr/>
        </p:nvSpPr>
        <p:spPr>
          <a:xfrm>
            <a:off x="3179825" y="2238501"/>
            <a:ext cx="976121" cy="3901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Enrichment refined</a:t>
            </a:r>
          </a:p>
        </p:txBody>
      </p:sp>
      <p:sp>
        <p:nvSpPr>
          <p:cNvPr id="33" name="Text 33"/>
          <p:cNvSpPr/>
          <p:nvPr/>
        </p:nvSpPr>
        <p:spPr>
          <a:xfrm>
            <a:off x="3179825" y="2674365"/>
            <a:ext cx="976121" cy="10241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shape checker that needs no paths, kept only where the relevant checker reached the bound.</a:t>
            </a:r>
          </a:p>
        </p:txBody>
      </p:sp>
      <p:sp>
        <p:nvSpPr>
          <p:cNvPr id="34" name="Shape 34"/>
          <p:cNvSpPr/>
          <p:nvPr/>
        </p:nvSpPr>
        <p:spPr>
          <a:xfrm>
            <a:off x="4732020" y="1493519"/>
            <a:ext cx="1817370" cy="2461006"/>
          </a:xfrm>
          <a:prstGeom prst="rect">
            <a:avLst/>
          </a:prstGeom>
          <a:solidFill>
            <a:srgbClr val="FFFFFF"/>
          </a:solidFill>
          <a:ln w="9525">
            <a:solidFill>
              <a:srgbClr val="D1D5DB"/>
            </a:solidFill>
          </a:ln>
        </p:spPr>
        <p:txBody>
          <a:bodyPr/>
          <a:lstStyle/>
          <a:p/>
        </p:txBody>
      </p:sp>
      <p:sp>
        <p:nvSpPr>
          <p:cNvPr id="35" name="Text 35"/>
          <p:cNvSpPr/>
          <p:nvPr/>
        </p:nvSpPr>
        <p:spPr>
          <a:xfrm>
            <a:off x="4988052" y="1749551"/>
            <a:ext cx="1305306" cy="214630"/>
          </a:xfrm>
          <a:prstGeom prst="rect">
            <a:avLst/>
          </a:prstGeom>
          <a:noFill/>
          <a:ln/>
        </p:spPr>
        <p:txBody>
          <a:bodyPr wrap="square" lIns="0" tIns="0" rIns="0" bIns="0" rtlCol="0" anchor="ctr"/>
          <a:lstStyle/>
          <a:p>
            <a:pPr indent="0" marL="0">
              <a:buNone/>
            </a:pPr>
            <a:r>
              <a:rPr lang="en-US" sz="1300" b="1" spc="120" kern="0" dirty="0">
                <a:solidFill>
                  <a:srgbClr val="B85042"/>
                </a:solidFill>
                <a:latin typeface="Calibri" pitchFamily="34" charset="0"/>
                <a:ea typeface="Calibri" pitchFamily="34" charset="-122"/>
                <a:cs typeface="Calibri" pitchFamily="34" charset="-120"/>
              </a:rPr>
              <a:t>Slice</a:t>
            </a:r>
          </a:p>
        </p:txBody>
      </p:sp>
      <p:pic>
        <p:nvPicPr>
          <p:cNvPr id="36" name="Picture 36"/>
          <p:cNvPicPr>
            <a:picLocks noChangeAspect="1"/>
          </p:cNvPicPr>
          <p:nvPr/>
        </p:nvPicPr>
        <p:blipFill>
          <a:blip r:embed="rId3"/>
          <a:stretch>
            <a:fillRect/>
          </a:stretch>
        </p:blipFill>
        <p:spPr>
          <a:xfrm>
            <a:off x="4988052" y="2256789"/>
            <a:ext cx="201168" cy="201168"/>
          </a:xfrm>
          <a:prstGeom prst="rect">
            <a:avLst/>
          </a:prstGeom>
        </p:spPr>
      </p:pic>
      <p:sp>
        <p:nvSpPr>
          <p:cNvPr id="37" name="Text 37"/>
          <p:cNvSpPr/>
          <p:nvPr/>
        </p:nvSpPr>
        <p:spPr>
          <a:xfrm>
            <a:off x="5317236" y="2238501"/>
            <a:ext cx="976121" cy="201168"/>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target</a:t>
            </a:r>
          </a:p>
        </p:txBody>
      </p:sp>
      <p:sp>
        <p:nvSpPr>
          <p:cNvPr id="38" name="Text 38"/>
          <p:cNvSpPr/>
          <p:nvPr/>
        </p:nvSpPr>
        <p:spPr>
          <a:xfrm>
            <a:off x="5317236" y="2485389"/>
            <a:ext cx="976121" cy="1194816"/>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functions on the finding's path, from the analyzer's syntax tree, as one file that compiles alone.</a:t>
            </a:r>
          </a:p>
        </p:txBody>
      </p:sp>
      <p:sp>
        <p:nvSpPr>
          <p:cNvPr id="39" name="Shape 39"/>
          <p:cNvSpPr/>
          <p:nvPr/>
        </p:nvSpPr>
        <p:spPr>
          <a:xfrm>
            <a:off x="6869429" y="1493519"/>
            <a:ext cx="1817370" cy="2461006"/>
          </a:xfrm>
          <a:prstGeom prst="rect">
            <a:avLst/>
          </a:prstGeom>
          <a:solidFill>
            <a:srgbClr val="FFFFFF"/>
          </a:solidFill>
          <a:ln w="9525">
            <a:solidFill>
              <a:srgbClr val="D1D5DB"/>
            </a:solidFill>
          </a:ln>
        </p:spPr>
        <p:txBody>
          <a:bodyPr/>
          <a:lstStyle/>
          <a:p/>
        </p:txBody>
      </p:sp>
      <p:sp>
        <p:nvSpPr>
          <p:cNvPr id="40" name="Text 40"/>
          <p:cNvSpPr/>
          <p:nvPr/>
        </p:nvSpPr>
        <p:spPr>
          <a:xfrm>
            <a:off x="7125462" y="1749551"/>
            <a:ext cx="1305306" cy="214630"/>
          </a:xfrm>
          <a:prstGeom prst="rect">
            <a:avLst/>
          </a:prstGeom>
          <a:noFill/>
          <a:ln/>
        </p:spPr>
        <p:txBody>
          <a:bodyPr wrap="square" lIns="0" tIns="0" rIns="0" bIns="0" rtlCol="0" anchor="ctr"/>
          <a:lstStyle/>
          <a:p>
            <a:pPr indent="0" marL="0">
              <a:buNone/>
            </a:pPr>
            <a:r>
              <a:rPr lang="en-US" sz="1300" b="1" spc="120" kern="0" dirty="0">
                <a:solidFill>
                  <a:srgbClr val="B85042"/>
                </a:solidFill>
                <a:latin typeface="Calibri" pitchFamily="34" charset="0"/>
                <a:ea typeface="Calibri" pitchFamily="34" charset="-122"/>
                <a:cs typeface="Calibri" pitchFamily="34" charset="-120"/>
              </a:rPr>
              <a:t>Fuzz</a:t>
            </a:r>
          </a:p>
        </p:txBody>
      </p:sp>
      <p:pic>
        <p:nvPicPr>
          <p:cNvPr id="41" name="Picture 41"/>
          <p:cNvPicPr>
            <a:picLocks noChangeAspect="1"/>
          </p:cNvPicPr>
          <p:nvPr/>
        </p:nvPicPr>
        <p:blipFill>
          <a:blip r:embed="rId2"/>
          <a:stretch>
            <a:fillRect/>
          </a:stretch>
        </p:blipFill>
        <p:spPr>
          <a:xfrm>
            <a:off x="7125462" y="2256789"/>
            <a:ext cx="201168" cy="201168"/>
          </a:xfrm>
          <a:prstGeom prst="rect">
            <a:avLst/>
          </a:prstGeom>
        </p:spPr>
      </p:pic>
      <p:sp>
        <p:nvSpPr>
          <p:cNvPr id="42" name="Text 42"/>
          <p:cNvSpPr/>
          <p:nvPr/>
        </p:nvSpPr>
        <p:spPr>
          <a:xfrm>
            <a:off x="7454646" y="2238501"/>
            <a:ext cx="976121" cy="201168"/>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consumer</a:t>
            </a:r>
          </a:p>
        </p:txBody>
      </p:sp>
      <p:sp>
        <p:nvSpPr>
          <p:cNvPr id="43" name="Text 43"/>
          <p:cNvSpPr/>
          <p:nvPr/>
        </p:nvSpPr>
        <p:spPr>
          <a:xfrm>
            <a:off x="7454646" y="2485389"/>
            <a:ext cx="976121" cy="1194816"/>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Stubs from the analyzer's derived models for everything outside the slice; one input chooses everything.</a:t>
            </a:r>
          </a:p>
        </p:txBody>
      </p:sp>
      <p:sp>
        <p:nvSpPr>
          <p:cNvPr id="44" name="Text 44"/>
          <p:cNvSpPr/>
          <p:nvPr/>
        </p:nvSpPr>
        <p:spPr>
          <a:xfrm>
            <a:off x="457200" y="4137406"/>
            <a:ext cx="8229600" cy="170687"/>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The verdict flows back: confirmed, refuted or unconfirmed, with the evidence that earns it and the tier that says how far to trust it.</a:t>
            </a:r>
          </a:p>
        </p:txBody>
      </p:sp>
      <p:sp>
        <p:nvSpPr>
          <p:cNvPr id="45" name="Text 45"/>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46" name="Text 46"/>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47"/>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FIND: ENRICHMENT OUT</a:t>
            </a:r>
          </a:p>
        </p:txBody>
      </p:sp>
      <p:sp>
        <p:nvSpPr>
          <p:cNvPr id="48" name="Text 48"/>
          <p:cNvSpPr/>
          <p:nvPr/>
        </p:nvSpPr>
        <p:spPr>
          <a:xfrm>
            <a:off x="457200" y="530352"/>
            <a:ext cx="8229600" cy="780288"/>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The log names the function. The analyzer, asked properly, names the checker.</a:t>
            </a:r>
          </a:p>
        </p:txBody>
      </p:sp>
      <p:sp>
        <p:nvSpPr>
          <p:cNvPr id="49" name="Text 49"/>
          <p:cNvSpPr/>
          <p:nvPr/>
        </p:nvSpPr>
        <p:spPr>
          <a:xfrm>
            <a:off x="457200" y="1438656"/>
            <a:ext cx="8229600" cy="219456"/>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The notice is one log line: the function, its translation unit, and nothing about why.</a:t>
            </a:r>
          </a:p>
        </p:txBody>
      </p:sp>
      <p:sp>
        <p:nvSpPr>
          <p:cNvPr id="50" name="Shape 50"/>
          <p:cNvSpPr/>
          <p:nvPr/>
        </p:nvSpPr>
        <p:spPr>
          <a:xfrm>
            <a:off x="457200" y="1895856"/>
            <a:ext cx="2529840" cy="2233168"/>
          </a:xfrm>
          <a:prstGeom prst="roundRect">
            <a:avLst>
              <a:gd name="adj" fmla="val 3000"/>
            </a:avLst>
          </a:prstGeom>
          <a:solidFill>
            <a:srgbClr val="F2F2F2"/>
          </a:solidFill>
          <a:ln>
            <a:noFill/>
          </a:ln>
        </p:spPr>
        <p:txBody>
          <a:bodyPr/>
          <a:lstStyle/>
          <a:p/>
        </p:txBody>
      </p:sp>
      <p:sp>
        <p:nvSpPr>
          <p:cNvPr id="51" name="Text 51"/>
          <p:cNvSpPr/>
          <p:nvPr/>
        </p:nvSpPr>
        <p:spPr>
          <a:xfrm>
            <a:off x="658368" y="2097024"/>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Ask for the diagnostics</a:t>
            </a:r>
          </a:p>
        </p:txBody>
      </p:sp>
      <p:sp>
        <p:nvSpPr>
          <p:cNvPr id="52" name="Text 52"/>
          <p:cNvSpPr/>
          <p:nvPr/>
        </p:nvSpPr>
        <p:spPr>
          <a:xfrm>
            <a:off x="658368" y="2544064"/>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cov-analyze --print-paths writes, per function and per component, how many paths each traversed and where it applied the bound: Pathed out: 5001 paths traversed by REVERSE_INULL in setup_env. That names the state that multiplied: nullness, index values, condition outcomes.</a:t>
            </a:r>
          </a:p>
        </p:txBody>
      </p:sp>
      <p:sp>
        <p:nvSpPr>
          <p:cNvPr id="53" name="Shape 53"/>
          <p:cNvSpPr/>
          <p:nvPr/>
        </p:nvSpPr>
        <p:spPr>
          <a:xfrm>
            <a:off x="3307080" y="1895856"/>
            <a:ext cx="2529840" cy="2233168"/>
          </a:xfrm>
          <a:prstGeom prst="roundRect">
            <a:avLst>
              <a:gd name="adj" fmla="val 3000"/>
            </a:avLst>
          </a:prstGeom>
          <a:solidFill>
            <a:srgbClr val="F2F2F2"/>
          </a:solidFill>
          <a:ln>
            <a:noFill/>
          </a:ln>
        </p:spPr>
        <p:txBody>
          <a:bodyPr/>
          <a:lstStyle/>
          <a:p/>
        </p:txBody>
      </p:sp>
      <p:sp>
        <p:nvSpPr>
          <p:cNvPr id="54" name="Text 54"/>
          <p:cNvSpPr/>
          <p:nvPr/>
        </p:nvSpPr>
        <p:spPr>
          <a:xfrm>
            <a:off x="3508248" y="2097024"/>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On the whole project, on a copy</a:t>
            </a:r>
          </a:p>
        </p:txBody>
      </p:sp>
      <p:sp>
        <p:nvSpPr>
          <p:cNvPr id="55" name="Text 55"/>
          <p:cNvSpPr/>
          <p:nvPr/>
        </p:nvSpPr>
        <p:spPr>
          <a:xfrm>
            <a:off x="3508248" y="2544064"/>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Scoping to one translation unit is fast and loses the models of callees elsewhere; on nginx it reproduced 11 of 18. The re-run rewrites the log being diagnosed, so it runs on a copy with the original options.</a:t>
            </a:r>
          </a:p>
        </p:txBody>
      </p:sp>
      <p:sp>
        <p:nvSpPr>
          <p:cNvPr id="56" name="Shape 56"/>
          <p:cNvSpPr/>
          <p:nvPr/>
        </p:nvSpPr>
        <p:spPr>
          <a:xfrm>
            <a:off x="6156960" y="1895856"/>
            <a:ext cx="2529840" cy="2233168"/>
          </a:xfrm>
          <a:prstGeom prst="roundRect">
            <a:avLst>
              <a:gd name="adj" fmla="val 3000"/>
            </a:avLst>
          </a:prstGeom>
          <a:solidFill>
            <a:srgbClr val="F2F2F2"/>
          </a:solidFill>
          <a:ln>
            <a:noFill/>
          </a:ln>
        </p:spPr>
        <p:txBody>
          <a:bodyPr/>
          <a:lstStyle/>
          <a:p/>
        </p:txBody>
      </p:sp>
      <p:sp>
        <p:nvSpPr>
          <p:cNvPr id="57" name="Text 57"/>
          <p:cNvSpPr/>
          <p:nvPr/>
        </p:nvSpPr>
        <p:spPr>
          <a:xfrm>
            <a:off x="6358128" y="2097024"/>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Batches hide names; diagnostics do not</a:t>
            </a:r>
          </a:p>
        </p:txBody>
      </p:sp>
      <p:sp>
        <p:nvSpPr>
          <p:cNvPr id="58" name="Text 58"/>
          <p:cNvSpPr/>
          <p:nvPr/>
        </p:nvSpPr>
        <p:spPr>
          <a:xfrm>
            <a:off x="6358128" y="2544064"/>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Under a heavy configuration, 186 of subversion's 189 notices named only a batch of twenty. The diagnostics name every function by its signature regardless.</a:t>
            </a:r>
          </a:p>
        </p:txBody>
      </p:sp>
      <p:sp>
        <p:nvSpPr>
          <p:cNvPr id="59" name="Text 59"/>
          <p:cNvSpPr/>
          <p:nvPr/>
        </p:nvSpPr>
        <p:spPr>
          <a:xfrm>
            <a:off x="457200" y="4340352"/>
            <a:ext cx="8229600" cy="341375"/>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This is the enrichment record: function, unit, checker, paths needed. nginx: 18 of 1,374 functions, the URI and SSI parsers among them. Redis: 27.</a:t>
            </a:r>
          </a:p>
        </p:txBody>
      </p:sp>
      <p:sp>
        <p:nvSpPr>
          <p:cNvPr id="60" name="Text 60"/>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61" name="Text 61"/>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62"/>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LOOK: ENRICHMENT REFINED</a:t>
            </a:r>
          </a:p>
        </p:txBody>
      </p:sp>
      <p:sp>
        <p:nvSpPr>
          <p:cNvPr id="63" name="Text 63"/>
          <p:cNvSpPr/>
          <p:nvPr/>
        </p:nvSpPr>
        <p:spPr>
          <a:xfrm>
            <a:off x="457200" y="530352"/>
            <a:ext cx="8229600" cy="780288"/>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A path-insensitive checker for the shape, kept only where the path-sensitive one stopped.</a:t>
            </a:r>
          </a:p>
        </p:txBody>
      </p:sp>
      <p:sp>
        <p:nvSpPr>
          <p:cNvPr id="64" name="Text 64"/>
          <p:cNvSpPr/>
          <p:nvPr/>
        </p:nvSpPr>
        <p:spPr>
          <a:xfrm>
            <a:off x="457200" y="1438656"/>
            <a:ext cx="8229600" cy="658368"/>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The checker that reached the bound would have reported a specific shape. Write that shape without paths, feasibility or ordering, run it everywhere, and throw away every hit the finished checkers already rejected.</a:t>
            </a:r>
          </a:p>
        </p:txBody>
      </p:sp>
      <p:sp>
        <p:nvSpPr>
          <p:cNvPr id="65" name="Shape 65"/>
          <p:cNvSpPr/>
          <p:nvPr/>
        </p:nvSpPr>
        <p:spPr>
          <a:xfrm>
            <a:off x="457200" y="2334768"/>
            <a:ext cx="2529840" cy="2387600"/>
          </a:xfrm>
          <a:prstGeom prst="roundRect">
            <a:avLst>
              <a:gd name="adj" fmla="val 3000"/>
            </a:avLst>
          </a:prstGeom>
          <a:solidFill>
            <a:srgbClr val="F2F2F2"/>
          </a:solidFill>
          <a:ln>
            <a:noFill/>
          </a:ln>
        </p:spPr>
        <p:txBody>
          <a:bodyPr/>
          <a:lstStyle/>
          <a:p/>
        </p:txBody>
      </p:sp>
      <p:sp>
        <p:nvSpPr>
          <p:cNvPr id="66" name="Text 66"/>
          <p:cNvSpPr/>
          <p:nvPr/>
        </p:nvSpPr>
        <p:spPr>
          <a:xfrm>
            <a:off x="658368" y="253593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Shape, not class</a:t>
            </a:r>
          </a:p>
        </p:txBody>
      </p:sp>
      <p:sp>
        <p:nvSpPr>
          <p:cNvPr id="67" name="Text 67"/>
          <p:cNvSpPr/>
          <p:nvPr/>
        </p:nvSpPr>
        <p:spPr>
          <a:xfrm>
            <a:off x="658368" y="2796032"/>
            <a:ext cx="2127504" cy="17068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Not "a null dereference" but "a pointer null-tested in an if, dereferenced outside it". Derived from a later-stage finding when there is one; when there is not, every shape is a hypothesis, and a catalogue of thirteen tested shapes runs in one pass.</a:t>
            </a:r>
          </a:p>
        </p:txBody>
      </p:sp>
      <p:sp>
        <p:nvSpPr>
          <p:cNvPr id="68" name="Shape 68"/>
          <p:cNvSpPr/>
          <p:nvPr/>
        </p:nvSpPr>
        <p:spPr>
          <a:xfrm>
            <a:off x="3307080" y="2334768"/>
            <a:ext cx="2529840" cy="2387600"/>
          </a:xfrm>
          <a:prstGeom prst="roundRect">
            <a:avLst>
              <a:gd name="adj" fmla="val 3000"/>
            </a:avLst>
          </a:prstGeom>
          <a:solidFill>
            <a:srgbClr val="F2F2F2"/>
          </a:solidFill>
          <a:ln>
            <a:noFill/>
          </a:ln>
        </p:spPr>
        <p:txBody>
          <a:bodyPr/>
          <a:lstStyle/>
          <a:p/>
        </p:txBody>
      </p:sp>
      <p:sp>
        <p:nvSpPr>
          <p:cNvPr id="69" name="Text 69"/>
          <p:cNvSpPr/>
          <p:nvPr/>
        </p:nvSpPr>
        <p:spPr>
          <a:xfrm>
            <a:off x="3508248" y="253593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filter is the mechanism</a:t>
            </a:r>
          </a:p>
        </p:txBody>
      </p:sp>
      <p:sp>
        <p:nvSpPr>
          <p:cNvPr id="70" name="Text 70"/>
          <p:cNvSpPr/>
          <p:nvPr/>
        </p:nvSpPr>
        <p:spPr>
          <a:xfrm>
            <a:off x="3508248" y="2796032"/>
            <a:ext cx="2127504" cy="17068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hit is kept only inside a function that reached the bound, and only where the checker that would have caught it was the one that reached it. Subversion: 503 hits, 115 in such functions, zero where a null-tracking checker reached the bound, 27 counting the reverse shape.</a:t>
            </a:r>
          </a:p>
        </p:txBody>
      </p:sp>
      <p:sp>
        <p:nvSpPr>
          <p:cNvPr id="71" name="Shape 71"/>
          <p:cNvSpPr/>
          <p:nvPr/>
        </p:nvSpPr>
        <p:spPr>
          <a:xfrm>
            <a:off x="6156960" y="2334768"/>
            <a:ext cx="2529840" cy="2387600"/>
          </a:xfrm>
          <a:prstGeom prst="roundRect">
            <a:avLst>
              <a:gd name="adj" fmla="val 3000"/>
            </a:avLst>
          </a:prstGeom>
          <a:solidFill>
            <a:srgbClr val="F2F2F2"/>
          </a:solidFill>
          <a:ln>
            <a:noFill/>
          </a:ln>
        </p:spPr>
        <p:txBody>
          <a:bodyPr/>
          <a:lstStyle/>
          <a:p/>
        </p:txBody>
      </p:sp>
      <p:sp>
        <p:nvSpPr>
          <p:cNvPr id="72" name="Text 72"/>
          <p:cNvSpPr/>
          <p:nvPr/>
        </p:nvSpPr>
        <p:spPr>
          <a:xfrm>
            <a:off x="6358128" y="253593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Hand on, do not judge</a:t>
            </a:r>
          </a:p>
        </p:txBody>
      </p:sp>
      <p:sp>
        <p:nvSpPr>
          <p:cNvPr id="73" name="Text 73"/>
          <p:cNvSpPr/>
          <p:nvPr/>
        </p:nvSpPr>
        <p:spPr>
          <a:xfrm>
            <a:off x="6358128" y="2796032"/>
            <a:ext cx="2127504" cy="17068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shape stage passes its survivors as a triage plan; reading and execution are the triage's methods, and what reading cannot settle goes to execution. On subversion all 27 fell to reading: preconditions, allocate-if-null macros, invariants between variables, reassignment. Nothing is believed on the strength of a structural match.</a:t>
            </a:r>
          </a:p>
        </p:txBody>
      </p:sp>
      <p:sp>
        <p:nvSpPr>
          <p:cNvPr id="74" name="Text 74"/>
          <p:cNvSpPr/>
          <p:nvPr/>
        </p:nvSpPr>
        <p:spPr>
          <a:xfrm>
            <a:off x="457200" y="4340352"/>
            <a:ext cx="8229600" cy="341375"/>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The enrichment is now a line, not a function: nginx, 159 hits, 4 in functions that hit the limit, 2 where the relevant checker stopped. Thirteen shapes, fifteen seconds.</a:t>
            </a:r>
          </a:p>
        </p:txBody>
      </p:sp>
      <p:sp>
        <p:nvSpPr>
          <p:cNvPr id="75" name="Text 75"/>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76" name="Text 76"/>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77"/>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SLICE: THE TARGET</a:t>
            </a:r>
          </a:p>
        </p:txBody>
      </p:sp>
      <p:sp>
        <p:nvSpPr>
          <p:cNvPr id="78" name="Text 78"/>
          <p:cNvSpPr/>
          <p:nvPr/>
        </p:nvSpPr>
        <p:spPr>
          <a:xfrm>
            <a:off x="457200" y="530352"/>
            <a:ext cx="8229600" cy="780288"/>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The fuzz target comes out of the analyzer's intermediate directory, as the analyzer saw it.</a:t>
            </a:r>
          </a:p>
        </p:txBody>
      </p:sp>
      <p:sp>
        <p:nvSpPr>
          <p:cNvPr id="79" name="Text 79"/>
          <p:cNvSpPr/>
          <p:nvPr/>
        </p:nvSpPr>
        <p:spPr>
          <a:xfrm>
            <a:off x="457200" y="1438656"/>
            <a:ext cx="8229600" cy="877824"/>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The intermediate directory holds the syntax tree the analyzer used. One command prints a function from it in under a second, macros expanded, types canonical. No preprocessing, no source checkout. When the finding's path crosses functions, every function carrying one of its events comes out together, in one file, each seeing the others; a file-local callee loses only its linkage.</a:t>
            </a:r>
          </a:p>
        </p:txBody>
      </p:sp>
      <p:sp>
        <p:nvSpPr>
          <p:cNvPr id="80" name="Shape 80"/>
          <p:cNvSpPr/>
          <p:nvPr/>
        </p:nvSpPr>
        <p:spPr>
          <a:xfrm>
            <a:off x="457200" y="2554224"/>
            <a:ext cx="2529840" cy="2233168"/>
          </a:xfrm>
          <a:prstGeom prst="roundRect">
            <a:avLst>
              <a:gd name="adj" fmla="val 3000"/>
            </a:avLst>
          </a:prstGeom>
          <a:solidFill>
            <a:srgbClr val="F2F2F2"/>
          </a:solidFill>
          <a:ln>
            <a:noFill/>
          </a:ln>
        </p:spPr>
        <p:txBody>
          <a:bodyPr/>
          <a:lstStyle/>
          <a:p/>
        </p:txBody>
      </p:sp>
      <p:sp>
        <p:nvSpPr>
          <p:cNvPr id="81" name="Text 81"/>
          <p:cNvSpPr/>
          <p:nvPr/>
        </p:nvSpPr>
        <p:spPr>
          <a:xfrm>
            <a:off x="658368" y="2755392"/>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Closed over its declarations</a:t>
            </a:r>
          </a:p>
        </p:txBody>
      </p:sp>
      <p:sp>
        <p:nvSpPr>
          <p:cNvPr id="82" name="Text 82"/>
          <p:cNvSpPr/>
          <p:nvPr/>
        </p:nvSpPr>
        <p:spPr>
          <a:xfrm>
            <a:off x="658368" y="3202432"/>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body alone will not compile. The same tree carries every callee's prototype, global, typedef and struct field; the tool prints them ahead of the body, re-emits with the translation unit's recorded flags, and re-analyzes. Forty random functions: forty clean.</a:t>
            </a:r>
          </a:p>
        </p:txBody>
      </p:sp>
      <p:sp>
        <p:nvSpPr>
          <p:cNvPr id="83" name="Shape 83"/>
          <p:cNvSpPr/>
          <p:nvPr/>
        </p:nvSpPr>
        <p:spPr>
          <a:xfrm>
            <a:off x="3307080" y="2554224"/>
            <a:ext cx="2529840" cy="2233168"/>
          </a:xfrm>
          <a:prstGeom prst="roundRect">
            <a:avLst>
              <a:gd name="adj" fmla="val 3000"/>
            </a:avLst>
          </a:prstGeom>
          <a:solidFill>
            <a:srgbClr val="F2F2F2"/>
          </a:solidFill>
          <a:ln>
            <a:noFill/>
          </a:ln>
        </p:spPr>
        <p:txBody>
          <a:bodyPr/>
          <a:lstStyle/>
          <a:p/>
        </p:txBody>
      </p:sp>
      <p:sp>
        <p:nvSpPr>
          <p:cNvPr id="84" name="Text 84"/>
          <p:cNvSpPr/>
          <p:nvPr/>
        </p:nvSpPr>
        <p:spPr>
          <a:xfrm>
            <a:off x="3508248" y="2755392"/>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What is different, and said so</a:t>
            </a:r>
          </a:p>
        </p:txBody>
      </p:sp>
      <p:sp>
        <p:nvSpPr>
          <p:cNvPr id="85" name="Text 85"/>
          <p:cNvSpPr/>
          <p:nvPr/>
        </p:nvSpPr>
        <p:spPr>
          <a:xfrm>
            <a:off x="3508248" y="3202432"/>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Callees outside the slice are prototypes without models, globals are extern. A function whose behaviour came from its callees finishes under the limit as a slice; five of nginx's eighteen did. The fuzz stage puts the models back.</a:t>
            </a:r>
          </a:p>
        </p:txBody>
      </p:sp>
      <p:sp>
        <p:nvSpPr>
          <p:cNvPr id="86" name="Shape 86"/>
          <p:cNvSpPr/>
          <p:nvPr/>
        </p:nvSpPr>
        <p:spPr>
          <a:xfrm>
            <a:off x="6156960" y="2554224"/>
            <a:ext cx="2529840" cy="2233168"/>
          </a:xfrm>
          <a:prstGeom prst="roundRect">
            <a:avLst>
              <a:gd name="adj" fmla="val 3000"/>
            </a:avLst>
          </a:prstGeom>
          <a:solidFill>
            <a:srgbClr val="F2F2F2"/>
          </a:solidFill>
          <a:ln>
            <a:noFill/>
          </a:ln>
        </p:spPr>
        <p:txBody>
          <a:bodyPr/>
          <a:lstStyle/>
          <a:p/>
        </p:txBody>
      </p:sp>
      <p:sp>
        <p:nvSpPr>
          <p:cNvPr id="87" name="Text 87"/>
          <p:cNvSpPr/>
          <p:nvPr/>
        </p:nvSpPr>
        <p:spPr>
          <a:xfrm>
            <a:off x="6358128" y="2755392"/>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A twin that can leave the building</a:t>
            </a:r>
          </a:p>
        </p:txBody>
      </p:sp>
      <p:sp>
        <p:nvSpPr>
          <p:cNvPr id="88" name="Text 88"/>
          <p:cNvSpPr/>
          <p:nvPr/>
        </p:nvSpPr>
        <p:spPr>
          <a:xfrm>
            <a:off x="6358128" y="3202432"/>
            <a:ext cx="2127504" cy="1365503"/>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On request the slice is obfuscated by kind, strings masked, library names and constants kept, and both files analyzed to prove the analyzer treats them alike. Only the twin leaves.</a:t>
            </a:r>
          </a:p>
        </p:txBody>
      </p:sp>
      <p:sp>
        <p:nvSpPr>
          <p:cNvPr id="89" name="Text 89"/>
          <p:cNvSpPr/>
          <p:nvPr/>
        </p:nvSpPr>
        <p:spPr>
          <a:xfrm>
            <a:off x="457200" y="4511040"/>
            <a:ext cx="8229600" cy="170687"/>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The later-stage tool did not need the build, the source tree or the compiler. It needed the earlier tool's artefact.</a:t>
            </a:r>
          </a:p>
        </p:txBody>
      </p:sp>
      <p:sp>
        <p:nvSpPr>
          <p:cNvPr id="90" name="Text 90"/>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91" name="Text 91"/>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 92"/>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FUZZ: THE CONSUMER</a:t>
            </a:r>
          </a:p>
        </p:txBody>
      </p:sp>
      <p:sp>
        <p:nvSpPr>
          <p:cNvPr id="93" name="Text 93"/>
          <p:cNvSpPr/>
          <p:nvPr/>
        </p:nvSpPr>
        <p:spPr>
          <a:xfrm>
            <a:off x="457200" y="530352"/>
            <a:ext cx="8229600" cy="780288"/>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The callees behave exactly as the analyzer believed they do. That is what makes the crash count.</a:t>
            </a:r>
          </a:p>
        </p:txBody>
      </p:sp>
      <p:sp>
        <p:nvSpPr>
          <p:cNvPr id="94" name="Text 94"/>
          <p:cNvSpPr/>
          <p:nvPr/>
        </p:nvSpPr>
        <p:spPr>
          <a:xfrm>
            <a:off x="457200" y="1438656"/>
            <a:ext cx="8229600" cy="438912"/>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fuzzer needs definitions for the callees, and the wrong definitions give wrong verdicts: a hand-written stub that returns null where the real callee never can confirms nothing.</a:t>
            </a:r>
          </a:p>
        </p:txBody>
      </p:sp>
      <p:sp>
        <p:nvSpPr>
          <p:cNvPr id="95" name="Shape 95"/>
          <p:cNvSpPr/>
          <p:nvPr/>
        </p:nvSpPr>
        <p:spPr>
          <a:xfrm>
            <a:off x="457200" y="2115312"/>
            <a:ext cx="2529840" cy="3086608"/>
          </a:xfrm>
          <a:prstGeom prst="roundRect">
            <a:avLst>
              <a:gd name="adj" fmla="val 3000"/>
            </a:avLst>
          </a:prstGeom>
          <a:solidFill>
            <a:srgbClr val="F2F2F2"/>
          </a:solidFill>
          <a:ln>
            <a:noFill/>
          </a:ln>
        </p:spPr>
        <p:txBody>
          <a:bodyPr/>
          <a:lstStyle/>
          <a:p/>
        </p:txBody>
      </p:sp>
      <p:sp>
        <p:nvSpPr>
          <p:cNvPr id="96" name="Text 96"/>
          <p:cNvSpPr/>
          <p:nvPr/>
        </p:nvSpPr>
        <p:spPr>
          <a:xfrm>
            <a:off x="658368" y="2316480"/>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model is the stub, outside the slice</a:t>
            </a:r>
          </a:p>
        </p:txBody>
      </p:sp>
      <p:sp>
        <p:nvSpPr>
          <p:cNvPr id="97" name="Text 97"/>
          <p:cNvSpPr/>
          <p:nvPr/>
        </p:nvSpPr>
        <p:spPr>
          <a:xfrm>
            <a:off x="658368" y="2763520"/>
            <a:ext cx="2127504" cy="2218944"/>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cov-find-function --save writes each callee's derived model: an automaton whose edges are returns-null, returns-its-argument, allocates, dereferences-argument, writes, escapes. A stub is printed from it, one branch per behaviour; it can only do what the analyzer granted the callee. A function on the finding's own path is never a stub: its model is the analyzer's belief about it, and a confirmation through that belief would be circular.</a:t>
            </a:r>
          </a:p>
        </p:txBody>
      </p:sp>
      <p:sp>
        <p:nvSpPr>
          <p:cNvPr id="98" name="Shape 98"/>
          <p:cNvSpPr/>
          <p:nvPr/>
        </p:nvSpPr>
        <p:spPr>
          <a:xfrm>
            <a:off x="3307080" y="2115312"/>
            <a:ext cx="2529840" cy="3086608"/>
          </a:xfrm>
          <a:prstGeom prst="roundRect">
            <a:avLst>
              <a:gd name="adj" fmla="val 3000"/>
            </a:avLst>
          </a:prstGeom>
          <a:solidFill>
            <a:srgbClr val="F2F2F2"/>
          </a:solidFill>
          <a:ln>
            <a:noFill/>
          </a:ln>
        </p:spPr>
        <p:txBody>
          <a:bodyPr/>
          <a:lstStyle/>
          <a:p/>
        </p:txBody>
      </p:sp>
      <p:sp>
        <p:nvSpPr>
          <p:cNvPr id="99" name="Text 99"/>
          <p:cNvSpPr/>
          <p:nvPr/>
        </p:nvSpPr>
        <p:spPr>
          <a:xfrm>
            <a:off x="3508248" y="2316480"/>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One input chooses everything</a:t>
            </a:r>
          </a:p>
        </p:txBody>
      </p:sp>
      <p:sp>
        <p:nvSpPr>
          <p:cNvPr id="100" name="Text 100"/>
          <p:cNvSpPr/>
          <p:nvPr/>
        </p:nvSpPr>
        <p:spPr>
          <a:xfrm>
            <a:off x="3508248" y="2763520"/>
            <a:ext cx="2127504" cy="2218944"/>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libFuzzer harness feeds the target's arguments and every stub's branch choice from one byte stream. The crashing input is a complete record of the callee behaviours the crash relied on, all of them in the analyzer's model.</a:t>
            </a:r>
          </a:p>
        </p:txBody>
      </p:sp>
      <p:sp>
        <p:nvSpPr>
          <p:cNvPr id="101" name="Shape 101"/>
          <p:cNvSpPr/>
          <p:nvPr/>
        </p:nvSpPr>
        <p:spPr>
          <a:xfrm>
            <a:off x="6156960" y="2115312"/>
            <a:ext cx="2529840" cy="3086608"/>
          </a:xfrm>
          <a:prstGeom prst="roundRect">
            <a:avLst>
              <a:gd name="adj" fmla="val 3000"/>
            </a:avLst>
          </a:prstGeom>
          <a:solidFill>
            <a:srgbClr val="F2F2F2"/>
          </a:solidFill>
          <a:ln>
            <a:noFill/>
          </a:ln>
        </p:spPr>
        <p:txBody>
          <a:bodyPr/>
          <a:lstStyle/>
          <a:p/>
        </p:txBody>
      </p:sp>
      <p:sp>
        <p:nvSpPr>
          <p:cNvPr id="102" name="Text 102"/>
          <p:cNvSpPr/>
          <p:nvPr/>
        </p:nvSpPr>
        <p:spPr>
          <a:xfrm>
            <a:off x="6358128" y="2316480"/>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oracle</a:t>
            </a:r>
          </a:p>
        </p:txBody>
      </p:sp>
      <p:sp>
        <p:nvSpPr>
          <p:cNvPr id="103" name="Text 103"/>
          <p:cNvSpPr/>
          <p:nvPr/>
        </p:nvSpPr>
        <p:spPr>
          <a:xfrm>
            <a:off x="6358128" y="2763520"/>
            <a:ext cx="2127504" cy="2218944"/>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AddressSanitizer for dereferences, overruns and use-after-free; for a claim that does not crash, an assertion at the finding's line stating its negation. On the fixture the chain runs in a minute and crashes at the right line on a four-byte input.</a:t>
            </a:r>
          </a:p>
        </p:txBody>
      </p:sp>
      <p:sp>
        <p:nvSpPr>
          <p:cNvPr id="104" name="Text 104"/>
          <p:cNvSpPr/>
          <p:nvPr/>
        </p:nvSpPr>
        <p:spPr>
          <a:xfrm>
            <a:off x="457200" y="4340352"/>
            <a:ext cx="8229600" cy="341375"/>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On subversion, a null-return finding a bare slice lost came back once both callees on the chain were stubbed from their models; neither carried an event of the finding.</a:t>
            </a:r>
          </a:p>
        </p:txBody>
      </p:sp>
      <p:sp>
        <p:nvSpPr>
          <p:cNvPr id="105" name="Text 105"/>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106" name="Text 106"/>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107"/>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VERDICT: ENRICHMENT IN</a:t>
            </a:r>
          </a:p>
        </p:txBody>
      </p:sp>
      <p:sp>
        <p:nvSpPr>
          <p:cNvPr id="108" name="Text 108"/>
          <p:cNvSpPr/>
          <p:nvPr/>
        </p:nvSpPr>
        <p:spPr>
          <a:xfrm>
            <a:off x="457200" y="530352"/>
            <a:ext cx="8229600" cy="411480"/>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Six verdicts, each with the evidence that earns it.</a:t>
            </a:r>
          </a:p>
        </p:txBody>
      </p:sp>
      <p:sp>
        <p:nvSpPr>
          <p:cNvPr id="109" name="Shape 109"/>
          <p:cNvSpPr/>
          <p:nvPr/>
        </p:nvSpPr>
        <p:spPr>
          <a:xfrm>
            <a:off x="457200" y="1069848"/>
            <a:ext cx="2529840" cy="1363472"/>
          </a:xfrm>
          <a:prstGeom prst="roundRect">
            <a:avLst>
              <a:gd name="adj" fmla="val 3000"/>
            </a:avLst>
          </a:prstGeom>
          <a:solidFill>
            <a:srgbClr val="F2F2F2"/>
          </a:solidFill>
          <a:ln>
            <a:noFill/>
          </a:ln>
        </p:spPr>
        <p:txBody>
          <a:bodyPr/>
          <a:lstStyle/>
          <a:p/>
        </p:txBody>
      </p:sp>
      <p:sp>
        <p:nvSpPr>
          <p:cNvPr id="110" name="Text 110"/>
          <p:cNvSpPr/>
          <p:nvPr/>
        </p:nvSpPr>
        <p:spPr>
          <a:xfrm>
            <a:off x="658368" y="127101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Refuted by reading</a:t>
            </a:r>
          </a:p>
        </p:txBody>
      </p:sp>
      <p:sp>
        <p:nvSpPr>
          <p:cNvPr id="111" name="Text 111"/>
          <p:cNvSpPr/>
          <p:nvPr/>
        </p:nvSpPr>
        <p:spPr>
          <a:xfrm>
            <a:off x="658368" y="1531112"/>
            <a:ext cx="212750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variable is reassigned, asserted or guarded in a way the structural checker could not see; the reason is the deliverable.</a:t>
            </a:r>
          </a:p>
        </p:txBody>
      </p:sp>
      <p:sp>
        <p:nvSpPr>
          <p:cNvPr id="112" name="Shape 112"/>
          <p:cNvSpPr/>
          <p:nvPr/>
        </p:nvSpPr>
        <p:spPr>
          <a:xfrm>
            <a:off x="3307080" y="1069848"/>
            <a:ext cx="2529840" cy="1363472"/>
          </a:xfrm>
          <a:prstGeom prst="roundRect">
            <a:avLst>
              <a:gd name="adj" fmla="val 3000"/>
            </a:avLst>
          </a:prstGeom>
          <a:solidFill>
            <a:srgbClr val="F2F2F2"/>
          </a:solidFill>
          <a:ln>
            <a:noFill/>
          </a:ln>
        </p:spPr>
        <p:txBody>
          <a:bodyPr/>
          <a:lstStyle/>
          <a:p/>
        </p:txBody>
      </p:sp>
      <p:sp>
        <p:nvSpPr>
          <p:cNvPr id="113" name="Text 113"/>
          <p:cNvSpPr/>
          <p:nvPr/>
        </p:nvSpPr>
        <p:spPr>
          <a:xfrm>
            <a:off x="3508248" y="127101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Refuted by execution</a:t>
            </a:r>
          </a:p>
        </p:txBody>
      </p:sp>
      <p:sp>
        <p:nvSpPr>
          <p:cNvPr id="114" name="Text 114"/>
          <p:cNvSpPr/>
          <p:nvPr/>
        </p:nvSpPr>
        <p:spPr>
          <a:xfrm>
            <a:off x="3508248" y="1531112"/>
            <a:ext cx="212750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line reached many times and the claim never false, within a stated budget. Reached rarely or never is unconfirmed, not a refutation.</a:t>
            </a:r>
          </a:p>
        </p:txBody>
      </p:sp>
      <p:sp>
        <p:nvSpPr>
          <p:cNvPr id="115" name="Shape 115"/>
          <p:cNvSpPr/>
          <p:nvPr/>
        </p:nvSpPr>
        <p:spPr>
          <a:xfrm>
            <a:off x="6156960" y="1069848"/>
            <a:ext cx="2529840" cy="1363472"/>
          </a:xfrm>
          <a:prstGeom prst="roundRect">
            <a:avLst>
              <a:gd name="adj" fmla="val 3000"/>
            </a:avLst>
          </a:prstGeom>
          <a:solidFill>
            <a:srgbClr val="F2F2F2"/>
          </a:solidFill>
          <a:ln>
            <a:noFill/>
          </a:ln>
        </p:spPr>
        <p:txBody>
          <a:bodyPr/>
          <a:lstStyle/>
          <a:p/>
        </p:txBody>
      </p:sp>
      <p:sp>
        <p:nvSpPr>
          <p:cNvPr id="116" name="Text 116"/>
          <p:cNvSpPr/>
          <p:nvPr/>
        </p:nvSpPr>
        <p:spPr>
          <a:xfrm>
            <a:off x="6358128" y="1271016"/>
            <a:ext cx="212750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Model says impossible</a:t>
            </a:r>
          </a:p>
        </p:txBody>
      </p:sp>
      <p:sp>
        <p:nvSpPr>
          <p:cNvPr id="117" name="Text 117"/>
          <p:cNvSpPr/>
          <p:nvPr/>
        </p:nvSpPr>
        <p:spPr>
          <a:xfrm>
            <a:off x="6358128" y="1531112"/>
            <a:ext cx="212750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No callee model on the path has an edge that produces the bad value; the analyzer's own knowledge refutes the claim, no build needed.</a:t>
            </a:r>
          </a:p>
        </p:txBody>
      </p:sp>
      <p:sp>
        <p:nvSpPr>
          <p:cNvPr id="118" name="Shape 118"/>
          <p:cNvSpPr/>
          <p:nvPr/>
        </p:nvSpPr>
        <p:spPr>
          <a:xfrm>
            <a:off x="457200" y="2634488"/>
            <a:ext cx="2529840" cy="1891792"/>
          </a:xfrm>
          <a:prstGeom prst="roundRect">
            <a:avLst>
              <a:gd name="adj" fmla="val 3000"/>
            </a:avLst>
          </a:prstGeom>
          <a:solidFill>
            <a:srgbClr val="F2F2F2"/>
          </a:solidFill>
          <a:ln>
            <a:noFill/>
          </a:ln>
        </p:spPr>
        <p:txBody>
          <a:bodyPr/>
          <a:lstStyle/>
          <a:p/>
        </p:txBody>
      </p:sp>
      <p:sp>
        <p:nvSpPr>
          <p:cNvPr id="119" name="Text 119"/>
          <p:cNvSpPr/>
          <p:nvPr/>
        </p:nvSpPr>
        <p:spPr>
          <a:xfrm>
            <a:off x="658368" y="2835656"/>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Confirmed by crash under model stubs</a:t>
            </a:r>
          </a:p>
        </p:txBody>
      </p:sp>
      <p:sp>
        <p:nvSpPr>
          <p:cNvPr id="120" name="Text 120"/>
          <p:cNvSpPr/>
          <p:nvPr/>
        </p:nvSpPr>
        <p:spPr>
          <a:xfrm>
            <a:off x="658368" y="3282696"/>
            <a:ext cx="2127504" cy="10241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sanitizer fired at the finding's line. The input and the stub branches taken are the reproduction, to check against the real callees; a stub list naming a function on the finding's path is malformed.</a:t>
            </a:r>
          </a:p>
        </p:txBody>
      </p:sp>
      <p:sp>
        <p:nvSpPr>
          <p:cNvPr id="121" name="Shape 121"/>
          <p:cNvSpPr/>
          <p:nvPr/>
        </p:nvSpPr>
        <p:spPr>
          <a:xfrm>
            <a:off x="3307080" y="2634488"/>
            <a:ext cx="2529840" cy="1891792"/>
          </a:xfrm>
          <a:prstGeom prst="roundRect">
            <a:avLst>
              <a:gd name="adj" fmla="val 3000"/>
            </a:avLst>
          </a:prstGeom>
          <a:solidFill>
            <a:srgbClr val="F2F2F2"/>
          </a:solidFill>
          <a:ln>
            <a:noFill/>
          </a:ln>
        </p:spPr>
        <p:txBody>
          <a:bodyPr/>
          <a:lstStyle/>
          <a:p/>
        </p:txBody>
      </p:sp>
      <p:sp>
        <p:nvSpPr>
          <p:cNvPr id="122" name="Text 122"/>
          <p:cNvSpPr/>
          <p:nvPr/>
        </p:nvSpPr>
        <p:spPr>
          <a:xfrm>
            <a:off x="3508248" y="2835656"/>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Sourced by the harness</a:t>
            </a:r>
          </a:p>
        </p:txBody>
      </p:sp>
      <p:sp>
        <p:nvSpPr>
          <p:cNvPr id="123" name="Text 123"/>
          <p:cNvSpPr/>
          <p:nvPr/>
        </p:nvSpPr>
        <p:spPr>
          <a:xfrm>
            <a:off x="3508248" y="3282696"/>
            <a:ext cx="2127504" cy="10241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parameter, a global or a hook the harness supplied carried the bad value. A question about the callers, kept apart so it cannot pose as confirmation.</a:t>
            </a:r>
          </a:p>
        </p:txBody>
      </p:sp>
      <p:sp>
        <p:nvSpPr>
          <p:cNvPr id="124" name="Shape 124"/>
          <p:cNvSpPr/>
          <p:nvPr/>
        </p:nvSpPr>
        <p:spPr>
          <a:xfrm>
            <a:off x="6156960" y="2634488"/>
            <a:ext cx="2529840" cy="1891792"/>
          </a:xfrm>
          <a:prstGeom prst="roundRect">
            <a:avLst>
              <a:gd name="adj" fmla="val 3000"/>
            </a:avLst>
          </a:prstGeom>
          <a:solidFill>
            <a:srgbClr val="F2F2F2"/>
          </a:solidFill>
          <a:ln>
            <a:noFill/>
          </a:ln>
        </p:spPr>
        <p:txBody>
          <a:bodyPr/>
          <a:lstStyle/>
          <a:p/>
        </p:txBody>
      </p:sp>
      <p:sp>
        <p:nvSpPr>
          <p:cNvPr id="125" name="Text 125"/>
          <p:cNvSpPr/>
          <p:nvPr/>
        </p:nvSpPr>
        <p:spPr>
          <a:xfrm>
            <a:off x="6358128" y="2835656"/>
            <a:ext cx="2127504" cy="373888"/>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Model gap</a:t>
            </a:r>
          </a:p>
        </p:txBody>
      </p:sp>
      <p:sp>
        <p:nvSpPr>
          <p:cNvPr id="126" name="Text 126"/>
          <p:cNvSpPr/>
          <p:nvPr/>
        </p:nvSpPr>
        <p:spPr>
          <a:xfrm>
            <a:off x="6358128" y="3282696"/>
            <a:ext cx="2127504" cy="10241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crash needed a behaviour outside the model: a user model the analyzer should have had, the enrichment flowing back in.</a:t>
            </a:r>
          </a:p>
        </p:txBody>
      </p:sp>
      <p:sp>
        <p:nvSpPr>
          <p:cNvPr id="127" name="Text 127"/>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128" name="Text 128"/>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 129"/>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THE NUMBERS</a:t>
            </a:r>
          </a:p>
        </p:txBody>
      </p:sp>
      <p:sp>
        <p:nvSpPr>
          <p:cNvPr id="130" name="Text 130"/>
          <p:cNvSpPr/>
          <p:nvPr/>
        </p:nvSpPr>
        <p:spPr>
          <a:xfrm>
            <a:off x="457200" y="530352"/>
            <a:ext cx="8229600" cy="411480"/>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Measured on real codebases, and read before believed.</a:t>
            </a:r>
          </a:p>
        </p:txBody>
      </p:sp>
      <p:sp>
        <p:nvSpPr>
          <p:cNvPr id="131" name="Shape 131"/>
          <p:cNvSpPr/>
          <p:nvPr/>
        </p:nvSpPr>
        <p:spPr>
          <a:xfrm>
            <a:off x="457200" y="1069848"/>
            <a:ext cx="3954780" cy="1363472"/>
          </a:xfrm>
          <a:prstGeom prst="roundRect">
            <a:avLst>
              <a:gd name="adj" fmla="val 3000"/>
            </a:avLst>
          </a:prstGeom>
          <a:solidFill>
            <a:srgbClr val="F2F2F2"/>
          </a:solidFill>
          <a:ln>
            <a:noFill/>
          </a:ln>
        </p:spPr>
        <p:txBody>
          <a:bodyPr/>
          <a:lstStyle/>
          <a:p/>
        </p:txBody>
      </p:sp>
      <p:sp>
        <p:nvSpPr>
          <p:cNvPr id="132" name="Text 132"/>
          <p:cNvSpPr/>
          <p:nvPr/>
        </p:nvSpPr>
        <p:spPr>
          <a:xfrm>
            <a:off x="658368" y="127101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bound rarely costs a defect</a:t>
            </a:r>
          </a:p>
        </p:txBody>
      </p:sp>
      <p:sp>
        <p:nvSpPr>
          <p:cNvPr id="133" name="Text 133"/>
          <p:cNvSpPr/>
          <p:nvPr/>
        </p:nvSpPr>
        <p:spPr>
          <a:xfrm>
            <a:off x="658368" y="1531112"/>
            <a:ext cx="355244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nginx at ten times the limit, whole project: 51 defects before, 51 after, two functions still unfinished. One drops from 5,001 paths to 64 when its loop nest moves into a helper, measured on the slice.</a:t>
            </a:r>
          </a:p>
        </p:txBody>
      </p:sp>
      <p:sp>
        <p:nvSpPr>
          <p:cNvPr id="134" name="Shape 134"/>
          <p:cNvSpPr/>
          <p:nvPr/>
        </p:nvSpPr>
        <p:spPr>
          <a:xfrm>
            <a:off x="4732020" y="1069848"/>
            <a:ext cx="3954780" cy="1363472"/>
          </a:xfrm>
          <a:prstGeom prst="roundRect">
            <a:avLst>
              <a:gd name="adj" fmla="val 3000"/>
            </a:avLst>
          </a:prstGeom>
          <a:solidFill>
            <a:srgbClr val="F2F2F2"/>
          </a:solidFill>
          <a:ln>
            <a:noFill/>
          </a:ln>
        </p:spPr>
        <p:txBody>
          <a:bodyPr/>
          <a:lstStyle/>
          <a:p/>
        </p:txBody>
      </p:sp>
      <p:sp>
        <p:nvSpPr>
          <p:cNvPr id="135" name="Text 135"/>
          <p:cNvSpPr/>
          <p:nvPr/>
        </p:nvSpPr>
        <p:spPr>
          <a:xfrm>
            <a:off x="4933188" y="127101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The filter does the work</a:t>
            </a:r>
          </a:p>
        </p:txBody>
      </p:sp>
      <p:sp>
        <p:nvSpPr>
          <p:cNvPr id="136" name="Text 136"/>
          <p:cNvSpPr/>
          <p:nvPr/>
        </p:nvSpPr>
        <p:spPr>
          <a:xfrm>
            <a:off x="4933188" y="1531112"/>
            <a:ext cx="355244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Subversion: 2,088 hits from a first draft, 503 once the checker learned what a guard is, 115 in functions that hit the limit, zero where the relevant checker stopped. Redis: 869, 76, zero.</a:t>
            </a:r>
          </a:p>
        </p:txBody>
      </p:sp>
      <p:sp>
        <p:nvSpPr>
          <p:cNvPr id="137" name="Shape 137"/>
          <p:cNvSpPr/>
          <p:nvPr/>
        </p:nvSpPr>
        <p:spPr>
          <a:xfrm>
            <a:off x="457200" y="2634488"/>
            <a:ext cx="3954780" cy="1534160"/>
          </a:xfrm>
          <a:prstGeom prst="roundRect">
            <a:avLst>
              <a:gd name="adj" fmla="val 3000"/>
            </a:avLst>
          </a:prstGeom>
          <a:solidFill>
            <a:srgbClr val="F2F2F2"/>
          </a:solidFill>
          <a:ln>
            <a:noFill/>
          </a:ln>
        </p:spPr>
        <p:txBody>
          <a:bodyPr/>
          <a:lstStyle/>
          <a:p/>
        </p:txBody>
      </p:sp>
      <p:sp>
        <p:nvSpPr>
          <p:cNvPr id="138" name="Text 138"/>
          <p:cNvSpPr/>
          <p:nvPr/>
        </p:nvSpPr>
        <p:spPr>
          <a:xfrm>
            <a:off x="658368" y="283565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Execution has run on real findings</a:t>
            </a:r>
          </a:p>
        </p:txBody>
      </p:sp>
      <p:sp>
        <p:nvSpPr>
          <p:cNvPr id="139" name="Text 139"/>
          <p:cNvSpPr/>
          <p:nvPr/>
        </p:nvSpPr>
        <p:spPr>
          <a:xfrm>
            <a:off x="658368" y="3095752"/>
            <a:ext cx="3552444" cy="8534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Ten ordinary proftpd findings under Linux sanitizers: none confirmed, five refuted by execution, two model gaps, two sourced by the harness, one by reading.</a:t>
            </a:r>
          </a:p>
        </p:txBody>
      </p:sp>
      <p:sp>
        <p:nvSpPr>
          <p:cNvPr id="140" name="Shape 140"/>
          <p:cNvSpPr/>
          <p:nvPr/>
        </p:nvSpPr>
        <p:spPr>
          <a:xfrm>
            <a:off x="4732020" y="2634488"/>
            <a:ext cx="3954780" cy="1534160"/>
          </a:xfrm>
          <a:prstGeom prst="roundRect">
            <a:avLst>
              <a:gd name="adj" fmla="val 3000"/>
            </a:avLst>
          </a:prstGeom>
          <a:solidFill>
            <a:srgbClr val="F2F2F2"/>
          </a:solidFill>
          <a:ln>
            <a:noFill/>
          </a:ln>
        </p:spPr>
        <p:txBody>
          <a:bodyPr/>
          <a:lstStyle/>
          <a:p/>
        </p:txBody>
      </p:sp>
      <p:sp>
        <p:nvSpPr>
          <p:cNvPr id="141" name="Text 141"/>
          <p:cNvSpPr/>
          <p:nvPr/>
        </p:nvSpPr>
        <p:spPr>
          <a:xfrm>
            <a:off x="4933188" y="283565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Not yet measured</a:t>
            </a:r>
          </a:p>
        </p:txBody>
      </p:sp>
      <p:sp>
        <p:nvSpPr>
          <p:cNvPr id="142" name="Text 142"/>
          <p:cNvSpPr/>
          <p:nvPr/>
        </p:nvSpPr>
        <p:spPr>
          <a:xfrm>
            <a:off x="4933188" y="3095752"/>
            <a:ext cx="3552444" cy="8534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confirmed finding on real code: the batch produced none, so the top tier rests on the fixture. The slice set is measured on a fixture, where the stub confirms and the code refutes, and on nginx; the fix check, fixed or silenced, on a fixture and one OpenSSL change.</a:t>
            </a:r>
          </a:p>
        </p:txBody>
      </p:sp>
      <p:sp>
        <p:nvSpPr>
          <p:cNvPr id="143" name="Text 143"/>
          <p:cNvSpPr/>
          <p:nvPr/>
        </p:nvSpPr>
        <p:spPr>
          <a:xfrm>
            <a:off x="457200" y="4461256"/>
            <a:ext cx="8229600" cy="170687"/>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The calibration records say which claims were measured and which were reasoned.</a:t>
            </a:r>
          </a:p>
        </p:txBody>
      </p:sp>
      <p:sp>
        <p:nvSpPr>
          <p:cNvPr id="144" name="Text 144"/>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145" name="Text 145"/>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146"/>
          <p:cNvSpPr/>
          <p:nvPr/>
        </p:nvSpPr>
        <p:spPr>
          <a:xfrm>
            <a:off x="457200" y="292608"/>
            <a:ext cx="8229600" cy="201168"/>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WHAT IT SHOWS</a:t>
            </a:r>
          </a:p>
        </p:txBody>
      </p:sp>
      <p:sp>
        <p:nvSpPr>
          <p:cNvPr id="147" name="Text 147"/>
          <p:cNvSpPr/>
          <p:nvPr/>
        </p:nvSpPr>
        <p:spPr>
          <a:xfrm>
            <a:off x="457200" y="530352"/>
            <a:ext cx="8229600" cy="411480"/>
          </a:xfrm>
          <a:prstGeom prst="rect">
            <a:avLst/>
          </a:prstGeom>
          <a:noFill/>
          <a:ln/>
        </p:spPr>
        <p:txBody>
          <a:bodyPr wrap="square" lIns="0" tIns="0" rIns="0" bIns="0" rtlCol="0" anchor="t"/>
          <a:lstStyle/>
          <a:p>
            <a:pPr indent="0" marL="0">
              <a:buNone/>
            </a:pPr>
            <a:r>
              <a:rPr lang="en-US" sz="2400" dirty="0">
                <a:solidFill>
                  <a:srgbClr val="1A1A1A"/>
                </a:solidFill>
                <a:latin typeface="Georgia" pitchFamily="34" charset="0"/>
                <a:ea typeface="Georgia" pitchFamily="34" charset="-122"/>
                <a:cs typeface="Georgia" pitchFamily="34" charset="-120"/>
              </a:rPr>
              <a:t>The architecture the series describes, names filled in.</a:t>
            </a:r>
          </a:p>
        </p:txBody>
      </p:sp>
      <p:sp>
        <p:nvSpPr>
          <p:cNvPr id="148" name="Shape 148"/>
          <p:cNvSpPr/>
          <p:nvPr/>
        </p:nvSpPr>
        <p:spPr>
          <a:xfrm>
            <a:off x="457200" y="1069848"/>
            <a:ext cx="3954780" cy="1363472"/>
          </a:xfrm>
          <a:prstGeom prst="roundRect">
            <a:avLst>
              <a:gd name="adj" fmla="val 3000"/>
            </a:avLst>
          </a:prstGeom>
          <a:solidFill>
            <a:srgbClr val="F2F2F2"/>
          </a:solidFill>
          <a:ln>
            <a:noFill/>
          </a:ln>
        </p:spPr>
        <p:txBody>
          <a:bodyPr/>
          <a:lstStyle/>
          <a:p/>
        </p:txBody>
      </p:sp>
      <p:sp>
        <p:nvSpPr>
          <p:cNvPr id="149" name="Text 149"/>
          <p:cNvSpPr/>
          <p:nvPr/>
        </p:nvSpPr>
        <p:spPr>
          <a:xfrm>
            <a:off x="658368" y="127101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Findings out</a:t>
            </a:r>
          </a:p>
        </p:txBody>
      </p:sp>
      <p:sp>
        <p:nvSpPr>
          <p:cNvPr id="150" name="Text 150"/>
          <p:cNvSpPr/>
          <p:nvPr/>
        </p:nvSpPr>
        <p:spPr>
          <a:xfrm>
            <a:off x="658368" y="1531112"/>
            <a:ext cx="355244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path-bound list is a finding about the analysis itself: here is where the bound was applied, and which checker reached it. Exposing it costs nothing; the analyzer already had it.</a:t>
            </a:r>
          </a:p>
        </p:txBody>
      </p:sp>
      <p:sp>
        <p:nvSpPr>
          <p:cNvPr id="151" name="Shape 151"/>
          <p:cNvSpPr/>
          <p:nvPr/>
        </p:nvSpPr>
        <p:spPr>
          <a:xfrm>
            <a:off x="4732020" y="1069848"/>
            <a:ext cx="3954780" cy="1363472"/>
          </a:xfrm>
          <a:prstGeom prst="roundRect">
            <a:avLst>
              <a:gd name="adj" fmla="val 3000"/>
            </a:avLst>
          </a:prstGeom>
          <a:solidFill>
            <a:srgbClr val="F2F2F2"/>
          </a:solidFill>
          <a:ln>
            <a:noFill/>
          </a:ln>
        </p:spPr>
        <p:txBody>
          <a:bodyPr/>
          <a:lstStyle/>
          <a:p/>
        </p:txBody>
      </p:sp>
      <p:sp>
        <p:nvSpPr>
          <p:cNvPr id="152" name="Text 152"/>
          <p:cNvSpPr/>
          <p:nvPr/>
        </p:nvSpPr>
        <p:spPr>
          <a:xfrm>
            <a:off x="4933188" y="127101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Enrichments in</a:t>
            </a:r>
          </a:p>
        </p:txBody>
      </p:sp>
      <p:sp>
        <p:nvSpPr>
          <p:cNvPr id="153" name="Text 153"/>
          <p:cNvSpPr/>
          <p:nvPr/>
        </p:nvSpPr>
        <p:spPr>
          <a:xfrm>
            <a:off x="4933188" y="1531112"/>
            <a:ext cx="355244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Verdicts and model gaps flow back as user models and as triage records that cite their evidence. The earlier tool gets better at exactly the functions on which it applied its bound.</a:t>
            </a:r>
          </a:p>
        </p:txBody>
      </p:sp>
      <p:sp>
        <p:nvSpPr>
          <p:cNvPr id="154" name="Shape 154"/>
          <p:cNvSpPr/>
          <p:nvPr/>
        </p:nvSpPr>
        <p:spPr>
          <a:xfrm>
            <a:off x="457200" y="2634488"/>
            <a:ext cx="3954780" cy="1363472"/>
          </a:xfrm>
          <a:prstGeom prst="roundRect">
            <a:avLst>
              <a:gd name="adj" fmla="val 3000"/>
            </a:avLst>
          </a:prstGeom>
          <a:solidFill>
            <a:srgbClr val="F2F2F2"/>
          </a:solidFill>
          <a:ln>
            <a:noFill/>
          </a:ln>
        </p:spPr>
        <p:txBody>
          <a:bodyPr/>
          <a:lstStyle/>
          <a:p/>
        </p:txBody>
      </p:sp>
      <p:sp>
        <p:nvSpPr>
          <p:cNvPr id="155" name="Text 155"/>
          <p:cNvSpPr/>
          <p:nvPr/>
        </p:nvSpPr>
        <p:spPr>
          <a:xfrm>
            <a:off x="658368" y="283565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Interface properties, concretely</a:t>
            </a:r>
          </a:p>
        </p:txBody>
      </p:sp>
      <p:sp>
        <p:nvSpPr>
          <p:cNvPr id="156" name="Text 156"/>
          <p:cNvSpPr/>
          <p:nvPr/>
        </p:nvSpPr>
        <p:spPr>
          <a:xfrm>
            <a:off x="658368" y="3095752"/>
            <a:ext cx="355244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machine-readable log, an intermediate directory that yields any function on demand, and exportable derived models. Those three properties are what let a later tool be built on an earlier one.</a:t>
            </a:r>
          </a:p>
        </p:txBody>
      </p:sp>
      <p:sp>
        <p:nvSpPr>
          <p:cNvPr id="157" name="Shape 157"/>
          <p:cNvSpPr/>
          <p:nvPr/>
        </p:nvSpPr>
        <p:spPr>
          <a:xfrm>
            <a:off x="4732020" y="2634488"/>
            <a:ext cx="3954780" cy="1363472"/>
          </a:xfrm>
          <a:prstGeom prst="roundRect">
            <a:avLst>
              <a:gd name="adj" fmla="val 3000"/>
            </a:avLst>
          </a:prstGeom>
          <a:solidFill>
            <a:srgbClr val="F2F2F2"/>
          </a:solidFill>
          <a:ln>
            <a:noFill/>
          </a:ln>
        </p:spPr>
        <p:txBody>
          <a:bodyPr/>
          <a:lstStyle/>
          <a:p/>
        </p:txBody>
      </p:sp>
      <p:sp>
        <p:nvSpPr>
          <p:cNvPr id="158" name="Text 158"/>
          <p:cNvSpPr/>
          <p:nvPr/>
        </p:nvSpPr>
        <p:spPr>
          <a:xfrm>
            <a:off x="4933188" y="2835656"/>
            <a:ext cx="3552444" cy="186944"/>
          </a:xfrm>
          <a:prstGeom prst="rect">
            <a:avLst/>
          </a:prstGeom>
          <a:noFill/>
          <a:ln/>
        </p:spPr>
        <p:txBody>
          <a:bodyPr wrap="square" lIns="0" tIns="0" rIns="0" bIns="0" rtlCol="0" anchor="t"/>
          <a:lstStyle/>
          <a:p>
            <a:pPr indent="0" marL="0">
              <a:buNone/>
            </a:pPr>
            <a:r>
              <a:rPr lang="en-US" sz="1150" b="1" dirty="0">
                <a:solidFill>
                  <a:srgbClr val="1A1A1A"/>
                </a:solidFill>
                <a:latin typeface="Calibri" pitchFamily="34" charset="0"/>
                <a:ea typeface="Calibri" pitchFamily="34" charset="-122"/>
                <a:cs typeface="Calibri" pitchFamily="34" charset="-120"/>
              </a:rPr>
              <a:t>Placement, concretely</a:t>
            </a:r>
          </a:p>
        </p:txBody>
      </p:sp>
      <p:sp>
        <p:nvSpPr>
          <p:cNvPr id="159" name="Text 159"/>
          <p:cNvSpPr/>
          <p:nvPr/>
        </p:nvSpPr>
        <p:spPr>
          <a:xfrm>
            <a:off x="4933188" y="3095752"/>
            <a:ext cx="3552444" cy="682751"/>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Expensive execution at the late stage, aimed by cheap data from the early stage. Nothing runs earlier or later than it did; one record moves between them.</a:t>
            </a:r>
          </a:p>
        </p:txBody>
      </p:sp>
      <p:sp>
        <p:nvSpPr>
          <p:cNvPr id="160" name="Text 160"/>
          <p:cNvSpPr/>
          <p:nvPr/>
        </p:nvSpPr>
        <p:spPr>
          <a:xfrm>
            <a:off x="457200" y="4290568"/>
            <a:ext cx="8229600" cy="341375"/>
          </a:xfrm>
          <a:prstGeom prst="rect">
            <a:avLst/>
          </a:prstGeom>
          <a:noFill/>
          <a:ln/>
        </p:spPr>
        <p:txBody>
          <a:bodyPr wrap="square" lIns="0" tIns="0" rIns="0" bIns="0" rtlCol="0" anchor="t"/>
          <a:lstStyle/>
          <a:p>
            <a:pPr indent="0" marL="0">
              <a:buNone/>
            </a:pPr>
            <a:r>
              <a:rPr lang="en-US" sz="1050" i="1" dirty="0">
                <a:solidFill>
                  <a:srgbClr val="1A1A1A"/>
                </a:solidFill>
                <a:latin typeface="Calibri" pitchFamily="34" charset="0"/>
                <a:ea typeface="Calibri" pitchFamily="34" charset="-122"/>
                <a:cs typeface="Calibri" pitchFamily="34" charset="-120"/>
              </a:rPr>
              <a:t>The pattern generalizes past the path bound: any early-stage tool that records where it applied a trade hands the late stage a target list, and the trade stays as good as it was.</a:t>
            </a:r>
          </a:p>
        </p:txBody>
      </p:sp>
      <p:sp>
        <p:nvSpPr>
          <p:cNvPr id="161" name="Text 161"/>
          <p:cNvSpPr/>
          <p:nvPr/>
        </p:nvSpPr>
        <p:spPr>
          <a:xfrm>
            <a:off x="457200" y="486460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Behind the Path Limit  ·  A worked example</a:t>
            </a:r>
          </a:p>
        </p:txBody>
      </p:sp>
      <p:sp>
        <p:nvSpPr>
          <p:cNvPr id="162" name="Text 162"/>
          <p:cNvSpPr/>
          <p:nvPr/>
        </p:nvSpPr>
        <p:spPr>
          <a:xfrm>
            <a:off x="7955279" y="4864608"/>
            <a:ext cx="731520" cy="228600"/>
          </a:xfrm>
          <a:prstGeom prst="rect">
            <a:avLst/>
          </a:prstGeom>
          <a:noFill/>
          <a:ln/>
        </p:spPr>
        <p:txBody>
          <a:bodyPr wrap="square" lIns="0" tIns="0" rIns="0" bIns="0" rtlCol="0" anchor="ctr"/>
          <a:lstStyle/>
          <a:p>
            <a:pPr indent="0" marL="0" algn="r">
              <a:buNone/>
            </a:pPr>
            <a:r>
              <a:rPr lang="en-US" sz="900" dirty="0">
                <a:solidFill>
                  <a:srgbClr val="6B7280"/>
                </a:solidFill>
                <a:latin typeface="Calibri" pitchFamily="34" charset="0"/>
                <a:ea typeface="Calibri" pitchFamily="34" charset="-122"/>
                <a:cs typeface="Calibri" pitchFamily="34" charset="-120"/>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Behind the Path Limit</dc:title>
  <dc:subject>PptxGenJS Presentation</dc:subject>
  <dc:creator>SSDLC Redesign</dc:creator>
  <cp:lastModifiedBy>SSDLC Redesign</cp:lastModifiedBy>
  <cp:revision>1</cp:revision>
  <dcterms:created xsi:type="dcterms:W3CDTF">2026-05-22T21:50:44Z</dcterms:created>
  <dcterms:modified xsi:type="dcterms:W3CDTF">2026-05-22T21:50:44Z</dcterms:modified>
</cp:coreProperties>
</file>